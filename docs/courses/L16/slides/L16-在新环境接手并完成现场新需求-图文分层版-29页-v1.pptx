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73aac540844d48" /><Relationship Type="http://schemas.openxmlformats.org/officeDocument/2006/relationships/extended-properties" Target="/docProps/app.xml" Id="Rf07c1f83343140e6" /><Relationship Type="http://schemas.openxmlformats.org/officeDocument/2006/relationships/officeDocument" Target="/ppt/presentation.xml" Id="Re19c9db332b74c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d0da3724a24cf2"/>
  </p:sldMasterIdLst>
  <p:notesMasterIdLst>
    <p:notesMasterId xmlns:r="http://schemas.openxmlformats.org/officeDocument/2006/relationships" r:id="R2dc3117ea8234e7d"/>
  </p:notesMasterIdLst>
  <p:sldIdLst>
    <p:sldId xmlns:r="http://schemas.openxmlformats.org/officeDocument/2006/relationships" id="256" r:id="Reb9f4ca280234321"/>
    <p:sldId xmlns:r="http://schemas.openxmlformats.org/officeDocument/2006/relationships" id="257" r:id="R46fac84d507d48c2"/>
    <p:sldId xmlns:r="http://schemas.openxmlformats.org/officeDocument/2006/relationships" id="258" r:id="Rf6b74e9e9f974b16"/>
    <p:sldId xmlns:r="http://schemas.openxmlformats.org/officeDocument/2006/relationships" id="259" r:id="R2d00cbd874ce4375"/>
    <p:sldId xmlns:r="http://schemas.openxmlformats.org/officeDocument/2006/relationships" id="260" r:id="R3547993570ef4065"/>
    <p:sldId xmlns:r="http://schemas.openxmlformats.org/officeDocument/2006/relationships" id="261" r:id="R145c4973c49d42b7"/>
    <p:sldId xmlns:r="http://schemas.openxmlformats.org/officeDocument/2006/relationships" id="262" r:id="Re22a882b6a3e478b"/>
    <p:sldId xmlns:r="http://schemas.openxmlformats.org/officeDocument/2006/relationships" id="263" r:id="Rb9cad3fcde7b408c"/>
    <p:sldId xmlns:r="http://schemas.openxmlformats.org/officeDocument/2006/relationships" id="264" r:id="R4ed59994ff994f37"/>
    <p:sldId xmlns:r="http://schemas.openxmlformats.org/officeDocument/2006/relationships" id="265" r:id="Rdb174be47ae24f38"/>
    <p:sldId xmlns:r="http://schemas.openxmlformats.org/officeDocument/2006/relationships" id="266" r:id="R6b20ba7b44e74725"/>
    <p:sldId xmlns:r="http://schemas.openxmlformats.org/officeDocument/2006/relationships" id="267" r:id="R569d3e148089427c"/>
    <p:sldId xmlns:r="http://schemas.openxmlformats.org/officeDocument/2006/relationships" id="268" r:id="R15f1b95c84094e94"/>
    <p:sldId xmlns:r="http://schemas.openxmlformats.org/officeDocument/2006/relationships" id="269" r:id="R7cc930a505974849"/>
    <p:sldId xmlns:r="http://schemas.openxmlformats.org/officeDocument/2006/relationships" id="270" r:id="R2e4b4312b2dc4db9"/>
    <p:sldId xmlns:r="http://schemas.openxmlformats.org/officeDocument/2006/relationships" id="271" r:id="R291e23c9dfc04c7f"/>
    <p:sldId xmlns:r="http://schemas.openxmlformats.org/officeDocument/2006/relationships" id="272" r:id="R93912a4178124a17"/>
    <p:sldId xmlns:r="http://schemas.openxmlformats.org/officeDocument/2006/relationships" id="273" r:id="R526848be1e424562"/>
    <p:sldId xmlns:r="http://schemas.openxmlformats.org/officeDocument/2006/relationships" id="274" r:id="Rbf6bf48fd56d418b"/>
    <p:sldId xmlns:r="http://schemas.openxmlformats.org/officeDocument/2006/relationships" id="275" r:id="R9be22592bd704262"/>
    <p:sldId xmlns:r="http://schemas.openxmlformats.org/officeDocument/2006/relationships" id="276" r:id="R28643299cf184049"/>
    <p:sldId xmlns:r="http://schemas.openxmlformats.org/officeDocument/2006/relationships" id="277" r:id="Redabc3366bb64299"/>
    <p:sldId xmlns:r="http://schemas.openxmlformats.org/officeDocument/2006/relationships" id="278" r:id="R1067201f7fd543db"/>
    <p:sldId xmlns:r="http://schemas.openxmlformats.org/officeDocument/2006/relationships" id="279" r:id="R75cf03bad01a4fba"/>
    <p:sldId xmlns:r="http://schemas.openxmlformats.org/officeDocument/2006/relationships" id="280" r:id="R450e7cbb8de6484a"/>
    <p:sldId xmlns:r="http://schemas.openxmlformats.org/officeDocument/2006/relationships" id="281" r:id="R6519275188c5471a"/>
    <p:sldId xmlns:r="http://schemas.openxmlformats.org/officeDocument/2006/relationships" id="282" r:id="R591e5bf43e944e93"/>
    <p:sldId xmlns:r="http://schemas.openxmlformats.org/officeDocument/2006/relationships" id="283" r:id="R52029047b30d41a4"/>
    <p:sldId xmlns:r="http://schemas.openxmlformats.org/officeDocument/2006/relationships" id="284" r:id="R4f4c962044944de3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03cc516e3a41a1" /><Relationship Type="http://schemas.openxmlformats.org/officeDocument/2006/relationships/slideMaster" Target="/ppt/slideMasters/slideMaster1.xml" Id="R9cd0da3724a24cf2" /><Relationship Type="http://schemas.openxmlformats.org/officeDocument/2006/relationships/notesMaster" Target="/ppt/notesMasters/notesMaster1.xml" Id="R2dc3117ea8234e7d" /><Relationship Type="http://schemas.openxmlformats.org/officeDocument/2006/relationships/presProps" Target="/ppt/presProps.xml" Id="Rdf359cc17e8d4c74" /><Relationship Type="http://schemas.openxmlformats.org/officeDocument/2006/relationships/tableStyles" Target="/ppt/tableStyles.xml" Id="R901a14de7f714559" /><Relationship Type="http://schemas.openxmlformats.org/officeDocument/2006/relationships/slide" Target="/ppt/slides/slide1.xml" Id="Reb9f4ca280234321" /><Relationship Type="http://schemas.openxmlformats.org/officeDocument/2006/relationships/slide" Target="/ppt/slides/slide2.xml" Id="R46fac84d507d48c2" /><Relationship Type="http://schemas.openxmlformats.org/officeDocument/2006/relationships/slide" Target="/ppt/slides/slide3.xml" Id="Rf6b74e9e9f974b16" /><Relationship Type="http://schemas.openxmlformats.org/officeDocument/2006/relationships/slide" Target="/ppt/slides/slide4.xml" Id="R2d00cbd874ce4375" /><Relationship Type="http://schemas.openxmlformats.org/officeDocument/2006/relationships/slide" Target="/ppt/slides/slide5.xml" Id="R3547993570ef4065" /><Relationship Type="http://schemas.openxmlformats.org/officeDocument/2006/relationships/slide" Target="/ppt/slides/slide6.xml" Id="R145c4973c49d42b7" /><Relationship Type="http://schemas.openxmlformats.org/officeDocument/2006/relationships/slide" Target="/ppt/slides/slide7.xml" Id="Re22a882b6a3e478b" /><Relationship Type="http://schemas.openxmlformats.org/officeDocument/2006/relationships/slide" Target="/ppt/slides/slide8.xml" Id="Rb9cad3fcde7b408c" /><Relationship Type="http://schemas.openxmlformats.org/officeDocument/2006/relationships/slide" Target="/ppt/slides/slide9.xml" Id="R4ed59994ff994f37" /><Relationship Type="http://schemas.openxmlformats.org/officeDocument/2006/relationships/slide" Target="/ppt/slides/slide10.xml" Id="Rdb174be47ae24f38" /><Relationship Type="http://schemas.openxmlformats.org/officeDocument/2006/relationships/slide" Target="/ppt/slides/slide11.xml" Id="R6b20ba7b44e74725" /><Relationship Type="http://schemas.openxmlformats.org/officeDocument/2006/relationships/slide" Target="/ppt/slides/slide12.xml" Id="R569d3e148089427c" /><Relationship Type="http://schemas.openxmlformats.org/officeDocument/2006/relationships/slide" Target="/ppt/slides/slide13.xml" Id="R15f1b95c84094e94" /><Relationship Type="http://schemas.openxmlformats.org/officeDocument/2006/relationships/slide" Target="/ppt/slides/slide14.xml" Id="R7cc930a505974849" /><Relationship Type="http://schemas.openxmlformats.org/officeDocument/2006/relationships/slide" Target="/ppt/slides/slide15.xml" Id="R2e4b4312b2dc4db9" /><Relationship Type="http://schemas.openxmlformats.org/officeDocument/2006/relationships/slide" Target="/ppt/slides/slide16.xml" Id="R291e23c9dfc04c7f" /><Relationship Type="http://schemas.openxmlformats.org/officeDocument/2006/relationships/slide" Target="/ppt/slides/slide17.xml" Id="R93912a4178124a17" /><Relationship Type="http://schemas.openxmlformats.org/officeDocument/2006/relationships/slide" Target="/ppt/slides/slide18.xml" Id="R526848be1e424562" /><Relationship Type="http://schemas.openxmlformats.org/officeDocument/2006/relationships/slide" Target="/ppt/slides/slide19.xml" Id="Rbf6bf48fd56d418b" /><Relationship Type="http://schemas.openxmlformats.org/officeDocument/2006/relationships/slide" Target="/ppt/slides/slide20.xml" Id="R9be22592bd704262" /><Relationship Type="http://schemas.openxmlformats.org/officeDocument/2006/relationships/slide" Target="/ppt/slides/slide21.xml" Id="R28643299cf184049" /><Relationship Type="http://schemas.openxmlformats.org/officeDocument/2006/relationships/slide" Target="/ppt/slides/slide22.xml" Id="Redabc3366bb64299" /><Relationship Type="http://schemas.openxmlformats.org/officeDocument/2006/relationships/slide" Target="/ppt/slides/slide23.xml" Id="R1067201f7fd543db" /><Relationship Type="http://schemas.openxmlformats.org/officeDocument/2006/relationships/slide" Target="/ppt/slides/slide24.xml" Id="R75cf03bad01a4fba" /><Relationship Type="http://schemas.openxmlformats.org/officeDocument/2006/relationships/slide" Target="/ppt/slides/slide25.xml" Id="R450e7cbb8de6484a" /><Relationship Type="http://schemas.openxmlformats.org/officeDocument/2006/relationships/slide" Target="/ppt/slides/slide26.xml" Id="R6519275188c5471a" /><Relationship Type="http://schemas.openxmlformats.org/officeDocument/2006/relationships/slide" Target="/ppt/slides/slide27.xml" Id="R591e5bf43e944e93" /><Relationship Type="http://schemas.openxmlformats.org/officeDocument/2006/relationships/slide" Target="/ppt/slides/slide28.xml" Id="R52029047b30d41a4" /><Relationship Type="http://schemas.openxmlformats.org/officeDocument/2006/relationships/slide" Target="/ppt/slides/slide29.xml" Id="R4f4c962044944d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96f2c0819b46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cc6561519949b8" /><Relationship Type="http://schemas.openxmlformats.org/officeDocument/2006/relationships/notesMaster" Target="/ppt/notesMasters/notesMaster1.xml" Id="Rb345adef0fb642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7911a6a03f4a40" /><Relationship Type="http://schemas.openxmlformats.org/officeDocument/2006/relationships/notesMaster" Target="/ppt/notesMasters/notesMaster1.xml" Id="R7e02783c58df4c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530bfa608047fd" /><Relationship Type="http://schemas.openxmlformats.org/officeDocument/2006/relationships/notesMaster" Target="/ppt/notesMasters/notesMaster1.xml" Id="Rdb96941c4e3a49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b2610f044649a0" /><Relationship Type="http://schemas.openxmlformats.org/officeDocument/2006/relationships/notesMaster" Target="/ppt/notesMasters/notesMaster1.xml" Id="R393d9dd8052f41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991f80d2784446" /><Relationship Type="http://schemas.openxmlformats.org/officeDocument/2006/relationships/notesMaster" Target="/ppt/notesMasters/notesMaster1.xml" Id="R8a2700405aa24a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c9b3f3c5e14437" /><Relationship Type="http://schemas.openxmlformats.org/officeDocument/2006/relationships/notesMaster" Target="/ppt/notesMasters/notesMaster1.xml" Id="Ra2f504c47e7f4c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b62a30d6f44613" /><Relationship Type="http://schemas.openxmlformats.org/officeDocument/2006/relationships/notesMaster" Target="/ppt/notesMasters/notesMaster1.xml" Id="Re2a53176032845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b87ef14c694ac1" /><Relationship Type="http://schemas.openxmlformats.org/officeDocument/2006/relationships/notesMaster" Target="/ppt/notesMasters/notesMaster1.xml" Id="R7963715b450647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d50c2ca0bc41e8" /><Relationship Type="http://schemas.openxmlformats.org/officeDocument/2006/relationships/notesMaster" Target="/ppt/notesMasters/notesMaster1.xml" Id="R84be83e6d27146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7f40f239794334" /><Relationship Type="http://schemas.openxmlformats.org/officeDocument/2006/relationships/notesMaster" Target="/ppt/notesMasters/notesMaster1.xml" Id="Rb13551dc012d49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33e3d2cb59432e" /><Relationship Type="http://schemas.openxmlformats.org/officeDocument/2006/relationships/notesMaster" Target="/ppt/notesMasters/notesMaster1.xml" Id="R9afd84f67b9a41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719c006d524e49" /><Relationship Type="http://schemas.openxmlformats.org/officeDocument/2006/relationships/notesMaster" Target="/ppt/notesMasters/notesMaster1.xml" Id="Rdd81bd8c94e14a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9242bd530a45ec" /><Relationship Type="http://schemas.openxmlformats.org/officeDocument/2006/relationships/notesMaster" Target="/ppt/notesMasters/notesMaster1.xml" Id="R6facf55e929c45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90482c4bcc48e6" /><Relationship Type="http://schemas.openxmlformats.org/officeDocument/2006/relationships/notesMaster" Target="/ppt/notesMasters/notesMaster1.xml" Id="Ra232b28fcbc7416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ecc84a519a4629" /><Relationship Type="http://schemas.openxmlformats.org/officeDocument/2006/relationships/notesMaster" Target="/ppt/notesMasters/notesMaster1.xml" Id="Re309fd9b298c41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541c648e4a4a23" /><Relationship Type="http://schemas.openxmlformats.org/officeDocument/2006/relationships/notesMaster" Target="/ppt/notesMasters/notesMaster1.xml" Id="R95dd75443c1f45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9a99bf37ad4e44" /><Relationship Type="http://schemas.openxmlformats.org/officeDocument/2006/relationships/notesMaster" Target="/ppt/notesMasters/notesMaster1.xml" Id="R0172b0e8b1bb41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d4c86528bb4ec1" /><Relationship Type="http://schemas.openxmlformats.org/officeDocument/2006/relationships/notesMaster" Target="/ppt/notesMasters/notesMaster1.xml" Id="R3b88045a440d4b7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62c823b3c94e5e" /><Relationship Type="http://schemas.openxmlformats.org/officeDocument/2006/relationships/notesMaster" Target="/ppt/notesMasters/notesMaster1.xml" Id="R047aa80617c24b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e39500808e149ff" /><Relationship Type="http://schemas.openxmlformats.org/officeDocument/2006/relationships/notesMaster" Target="/ppt/notesMasters/notesMaster1.xml" Id="Rbef4c919efe743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9ea47351c7b43c0" /><Relationship Type="http://schemas.openxmlformats.org/officeDocument/2006/relationships/notesMaster" Target="/ppt/notesMasters/notesMaster1.xml" Id="Rf8f2d821360742b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6e31568d1f64d64" /><Relationship Type="http://schemas.openxmlformats.org/officeDocument/2006/relationships/notesMaster" Target="/ppt/notesMasters/notesMaster1.xml" Id="R20970fef0301492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81d1ef79ab44db5" /><Relationship Type="http://schemas.openxmlformats.org/officeDocument/2006/relationships/notesMaster" Target="/ppt/notesMasters/notesMaster1.xml" Id="Rc349a76ab4d9428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77f0e0fbe8b4e3f" /><Relationship Type="http://schemas.openxmlformats.org/officeDocument/2006/relationships/notesMaster" Target="/ppt/notesMasters/notesMaster1.xml" Id="R12f18f63bf9545d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234a8dff5b6405d" /><Relationship Type="http://schemas.openxmlformats.org/officeDocument/2006/relationships/notesMaster" Target="/ppt/notesMasters/notesMaster1.xml" Id="R52e6d65fa1df4dc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15b749cc3cd43f5" /><Relationship Type="http://schemas.openxmlformats.org/officeDocument/2006/relationships/notesMaster" Target="/ppt/notesMasters/notesMaster1.xml" Id="R1cc249882f6e419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0add02d5e4b4e3d" /><Relationship Type="http://schemas.openxmlformats.org/officeDocument/2006/relationships/notesMaster" Target="/ppt/notesMasters/notesMaster1.xml" Id="R13d7f028d84f49d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0eb22f1de144324" /><Relationship Type="http://schemas.openxmlformats.org/officeDocument/2006/relationships/notesMaster" Target="/ppt/notesMasters/notesMaster1.xml" Id="Re4c9936d1d17496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177e22d8b3f4492" /><Relationship Type="http://schemas.openxmlformats.org/officeDocument/2006/relationships/notesMaster" Target="/ppt/notesMasters/notesMaster1.xml" Id="R12311404361a44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在新环境接手，</a:t>
            </a:r>
          </a:p>
          <a:p xmlns:a="http://schemas.openxmlformats.org/drawingml/2006/main">
            <a:r>
              <a:t>并完成现场新需求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离开原作者，系统还能继续交付吗？</a:t>
            </a:r>
          </a:p>
          <a:p xmlns:a="http://schemas.openxmlformats.org/drawingml/2006/main">
            <a:r>
              <a:t>新环境检验可接手，新需求检验可继续开发。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人物、情节和配图均为教学示意。个人实践从当前版本的真实缺口开始。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Vibe Coding、Spec Coding 与 Harness 工程</a:t>
            </a:r>
          </a:p>
          <a:p xmlns:a="http://schemas.openxmlformats.org/drawingml/2006/main">
            <a:r>
              <a:t>开发方式逐步增加判断依据，三种方式可以配合使用。</a:t>
            </a:r>
          </a:p>
          <a:p xmlns:a="http://schemas.openxmlformats.org/drawingml/2006/main">
            <a:r>
              <a:t>Vibe Coding 依赖自然语言与直观反馈探索。Spec Coding 先明确范围与验收标准。Harness 工程把授权、执行、验证、停止和人审落实到工作台。本课学习路线，并非行业统一等级。图中界面与文档只作概念示意，具体实现以本次 Spec 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概念参考：https://github.github.com/spec-kit/</a:t>
            </a:r>
          </a:p>
          <a:p xmlns:a="http://schemas.openxmlformats.org/drawingml/2006/main">
            <a:r>
              <a:t>教学图：docs/courses/L16/assets/imagegen-20260923/01-methods.png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搜索框出现了，需求还没有说清</a:t>
            </a:r>
          </a:p>
          <a:p xmlns:a="http://schemas.openxmlformats.org/drawingml/2006/main">
            <a:r>
              <a:t>Spec 将“看起来能用”变成可核对的要求。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当前页列表变短，只能说明当前页发生了筛选。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FDE：深入现场，负责到实际可用</a:t>
            </a:r>
          </a:p>
          <a:p xmlns:a="http://schemas.openxmlformats.org/drawingml/2006/main">
            <a:r>
              <a:t>Forward-Deployed Engineering，面向真实业务问题的工程工作方式。</a:t>
            </a:r>
          </a:p>
          <a:p xmlns:a="http://schemas.openxmlformats.org/drawingml/2006/main">
            <a:r>
              <a:t>岗位 FDE 也常指 Forward-Deployed Engineer，前线部署工程师。Vibe、Spec、Harness 说明怎样开发和交付，FDE 说明为谁解决问题并负责到什么结果。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概念参考：https://jobs.lever.co/palantir/5168e8fd-fec1-4fea-b7a1-81bdaea65850</a:t>
            </a:r>
          </a:p>
          <a:p xmlns:a="http://schemas.openxmlformats.org/drawingml/2006/main">
            <a:r>
              <a:t>教学图：docs/courses/L16/assets/imagegen-20260923/02-fde.png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本课用三个循环组织 FDE 工作</a:t>
            </a:r>
          </a:p>
          <a:p xmlns:a="http://schemas.openxmlformats.org/drawingml/2006/main">
            <a:r>
              <a:t>现场决定要解决什么，交付与能力改进围绕它展开。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这是本课的组织方式。保存经验之后，仍需要后续采用与复验。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接手：让已有系统运行起来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交付摘要说明现状，也暴露隐含条件</a:t>
            </a:r>
          </a:p>
          <a:p xmlns:a="http://schemas.openxmlformats.org/drawingml/2006/main">
            <a:r>
              <a:t>接手需要还原版本、运行条件和未解决问题。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补回遗漏后，再由接手者按说明验证。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三处环境分别承担不同职责</a:t>
            </a:r>
          </a:p>
          <a:p xmlns:a="http://schemas.openxmlformats.org/drawingml/2006/main">
            <a:r>
              <a:t>保留起点、验证重建、开发新需求，才能定位变化来自哪里。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教学图：docs/courses/L16/assets/imagegen-20260920/01-environments.png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工作台与 FlowERP 保存不同的事实</a:t>
            </a:r>
          </a:p>
          <a:p xmlns:a="http://schemas.openxmlformats.org/drawingml/2006/main">
            <a:r>
              <a:t>研发记录和业务数据需要分别确认。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教学图：docs/courses/L16/assets/imagegen-20260920/02-two-systems.png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新容器仍可能读到旧数据</a:t>
            </a:r>
          </a:p>
          <a:p xmlns:a="http://schemas.openxmlformats.org/drawingml/2006/main">
            <a:r>
              <a:t>容器减少程序运行差异，配置和数据仍需单独核对。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冷启动要重新建立运行条件。只打开新终端，仍可能沿用旧环境。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健康检查只覆盖它实际检查的条件</a:t>
            </a:r>
          </a:p>
          <a:p xmlns:a="http://schemas.openxmlformats.org/drawingml/2006/main">
            <a:r>
              <a:t>业务操作继续验证目标实例和真实数据读写。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分别验证工作台与客户项目，不能用一个健康响应替代两套系统的检查。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开发：通过工作台完成新需求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查找范围决定实现与验收</a:t>
            </a:r>
          </a:p>
          <a:p xmlns:a="http://schemas.openxmlformats.org/drawingml/2006/main">
            <a:r>
              <a:t>当前页筛选和跨分页查询，需要不同的要求。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教学图：docs/courses/L16/assets/imagegen-20260920/05-clarify.png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验收数据要覆盖容易遗漏的边界</a:t>
            </a:r>
          </a:p>
          <a:p xmlns:a="http://schemas.openxmlformats.org/drawingml/2006/main">
            <a:r>
              <a:t>先在原版本运行检查，确认它能识别真实缺口。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新增检查验证新要求，既有阻断 Eval 保护原有能力。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授权、检查和停止条件共同约束执行</a:t>
            </a:r>
          </a:p>
          <a:p xmlns:a="http://schemas.openxmlformats.org/drawingml/2006/main">
            <a:r>
              <a:t>从工作台首页“事项与决策”组织本次开发。</a:t>
            </a:r>
          </a:p>
          <a:p xmlns:a="http://schemas.openxmlformats.org/drawingml/2006/main">
            <a:r>
              <a:t>指定候选目录、允许文件、验收命令和修复上限。候选是本次准备交付的代码版本，Diff、报告与审核必须对应它。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教学图：docs/courses/L16/assets/imagegen-20260920/06-delivery.png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打回要能复现，接受要对应新版本</a:t>
            </a:r>
          </a:p>
          <a:p xmlns:a="http://schemas.openxmlformats.org/drawingml/2006/main">
            <a:r>
              <a:t>具体输入与预期结果，比“功能不好用”更能帮助定位问题。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独立复验与具名接受针对同一候选，执行者的完成声明不能替代它们。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不同失败需要处理不同对象</a:t>
            </a:r>
          </a:p>
          <a:p xmlns:a="http://schemas.openxmlformats.org/drawingml/2006/main">
            <a:r>
              <a:t>先判断哪一层出了问题，再决定如何修复。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教学图：docs/courses/L16/assets/imagegen-20260920/07-failures.png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修复继续到哪里，工作台必须说清</a:t>
            </a:r>
          </a:p>
          <a:p xmlns:a="http://schemas.openxmlformats.org/drawingml/2006/main">
            <a:r>
              <a:t>Loop 控制修复边界，Graph 区分执行、复验与接受。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旧经验可以帮助选择修法，本次 Spec、Diff 和 Eval 仍需独立成立。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交付：交回可继续使用的版本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实际使用会揭示新的需求</a:t>
            </a:r>
          </a:p>
          <a:p xmlns:a="http://schemas.openxmlformats.org/drawingml/2006/main">
            <a:r>
              <a:t>原要求通过验收后，新增反馈仍需要确认范围。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教学图：docs/courses/L16/assets/imagegen-20260923/04-feedback.png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交付记录帮助解释“今天为什么又不行”</a:t>
            </a:r>
          </a:p>
          <a:p xmlns:a="http://schemas.openxmlformats.org/drawingml/2006/main">
            <a:r>
              <a:t>摘要与结果导出连接已交付版本，反馈连接下一次改进。</a:t>
            </a:r>
          </a:p>
          <a:p xmlns:a="http://schemas.openxmlformats.org/drawingml/2006/main">
            <a:r>
              <a:t>本次须产生实际结果导出和有来源的反馈写入。摘要、Spec、差异、报告和人审可以互相回查。图片为教学索引，不代表个人已验收。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教学图：docs/courses/L16/assets/imagegen-20260920/08-evidence.png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回退程序与恢复数据，需要分别判断</a:t>
            </a:r>
          </a:p>
          <a:p xmlns:a="http://schemas.openxmlformats.org/drawingml/2006/main">
            <a:r>
              <a:t>切回旧程序，不会撤销已经发生的出入库。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教学图：docs/courses/L16/assets/imagegen-20260920/03-rollback.png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还原备份点，不等于还原当前业务</a:t>
            </a:r>
          </a:p>
          <a:p xmlns:a="http://schemas.openxmlformats.org/drawingml/2006/main">
            <a:r>
              <a:t>备份之后新增的业务，必须另行对账。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教学图：docs/courses/L16/assets/imagegen-20260920/04-restore.png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结课：下一项需求能复用什么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同一个查询遗漏，可能要改三个地方</a:t>
            </a:r>
          </a:p>
          <a:p xmlns:a="http://schemas.openxmlformats.org/drawingml/2006/main">
            <a:r>
              <a:t>先定位缺口，再决定修规格、补检查，还是修工作台。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教学图：docs/courses/L16/assets/imagegen-20260923/03-failure.png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能复用的是方法，新业务仍需新验证</a:t>
            </a:r>
          </a:p>
          <a:p xmlns:a="http://schemas.openxmlformats.org/drawingml/2006/main">
            <a:r>
              <a:t>库存查询的经验可以提示风险，不能证明销售导出正确。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把实际采用结果写回经验，才能知道它是否帮助了后续任务。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交付边界要具体到别人能作判断</a:t>
            </a:r>
          </a:p>
          <a:p xmlns:a="http://schemas.openxmlformats.org/drawingml/2006/main">
            <a:r>
              <a:t>交回可用版本，也要说明尚未验证的条件和剩余风险。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结业检查表与五分钟答辩稿见实践手册。正文关注交付判断，操作记录按实际结果填写。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依据：docs/courses/L16/辅导资料.md。</a:t>
            </a:r>
          </a:p>
          <a:p xmlns:a="http://schemas.openxmlformats.org/drawingml/2006/main">
            <a:r>
              <a:t>课程结束，下一项真实需求仍会到来</a:t>
            </a:r>
          </a:p>
          <a:p xmlns:a="http://schemas.openxmlformats.org/drawingml/2006/main">
            <a:r>
              <a:t>工作台组织人与 Codex 协作，FlowERP 持续获得可验证的增量。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接下来：用自己的工作台完成下一项范围受控的真实需求。</a:t>
            </a:r>
          </a:p>
          <a:p xmlns:a="http://schemas.openxmlformats.org/drawingml/2006/main">
            <a:r>
              <a:t>文中人物、情节和图片用于教学说明，不代表个人运行与验收结果。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e28c2a3b044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b2a78f3ad14a7e" /><Relationship Type="http://schemas.openxmlformats.org/officeDocument/2006/relationships/slideLayout" Target="/ppt/slideLayouts/slideLayout1.xml" Id="R0c6cef34a34b43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6cef34a34b43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02bf57af34ee3" /><Relationship Type="http://schemas.openxmlformats.org/officeDocument/2006/relationships/notesSlide" Target="/ppt/notesSlides/notesSlide1.xml" Id="R97c84d70546f40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bb36817ee4396" /><Relationship Type="http://schemas.openxmlformats.org/officeDocument/2006/relationships/notesSlide" Target="/ppt/notesSlides/notesSlide2.xml" Id="R6128737e9dcb46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ac6bb9490498f" /><Relationship Type="http://schemas.openxmlformats.org/officeDocument/2006/relationships/image" Target="/ppt/media/image.png" Id="Re3cbefd16b864e1c" /><Relationship Type="http://schemas.openxmlformats.org/officeDocument/2006/relationships/notesSlide" Target="/ppt/notesSlides/notesSlide3.xml" Id="R62b10645e15b47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5799db56a4fa2" /><Relationship Type="http://schemas.openxmlformats.org/officeDocument/2006/relationships/notesSlide" Target="/ppt/notesSlides/notesSlide4.xml" Id="Rd8efefb5a8ef4f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29e9697534da9" /><Relationship Type="http://schemas.openxmlformats.org/officeDocument/2006/relationships/image" Target="/ppt/media/image2.png" Id="R4a7a3fe432dd4f0e" /><Relationship Type="http://schemas.openxmlformats.org/officeDocument/2006/relationships/notesSlide" Target="/ppt/notesSlides/notesSlide5.xml" Id="Re5e6bc846d9a4c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b0941207f4ff2" /><Relationship Type="http://schemas.openxmlformats.org/officeDocument/2006/relationships/notesSlide" Target="/ppt/notesSlides/notesSlide6.xml" Id="Rb3da4ecb89fc46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d90af8d6b41cb" /><Relationship Type="http://schemas.openxmlformats.org/officeDocument/2006/relationships/notesSlide" Target="/ppt/notesSlides/notesSlide7.xml" Id="R617d568aa3ee42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daa66832e4704" /><Relationship Type="http://schemas.openxmlformats.org/officeDocument/2006/relationships/notesSlide" Target="/ppt/notesSlides/notesSlide8.xml" Id="R62caf1f9967047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3ede6ef9a469c" /><Relationship Type="http://schemas.openxmlformats.org/officeDocument/2006/relationships/image" Target="/ppt/media/image3.png" Id="R4f2b31e89f954a08" /><Relationship Type="http://schemas.openxmlformats.org/officeDocument/2006/relationships/notesSlide" Target="/ppt/notesSlides/notesSlide9.xml" Id="R8cc48ec9e3dd4e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81febfb0d4323" /><Relationship Type="http://schemas.openxmlformats.org/officeDocument/2006/relationships/image" Target="/ppt/media/image4.png" Id="Rfc0905685fe843b5" /><Relationship Type="http://schemas.openxmlformats.org/officeDocument/2006/relationships/notesSlide" Target="/ppt/notesSlides/notesSlide10.xml" Id="R60a012114a7946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d74a6707d4fb9" /><Relationship Type="http://schemas.openxmlformats.org/officeDocument/2006/relationships/notesSlide" Target="/ppt/notesSlides/notesSlide11.xml" Id="Rb6569b1476f448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aca92c0094230" /><Relationship Type="http://schemas.openxmlformats.org/officeDocument/2006/relationships/notesSlide" Target="/ppt/notesSlides/notesSlide12.xml" Id="Rbc1542dc35b64d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40f1df6784954" /><Relationship Type="http://schemas.openxmlformats.org/officeDocument/2006/relationships/notesSlide" Target="/ppt/notesSlides/notesSlide13.xml" Id="R7ce2bd54cb294c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b312dd4dd4f90" /><Relationship Type="http://schemas.openxmlformats.org/officeDocument/2006/relationships/image" Target="/ppt/media/image5.png" Id="R42e0a69fb86147ce" /><Relationship Type="http://schemas.openxmlformats.org/officeDocument/2006/relationships/notesSlide" Target="/ppt/notesSlides/notesSlide14.xml" Id="Rc2f02905c5094b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1d7c69ccb488e" /><Relationship Type="http://schemas.openxmlformats.org/officeDocument/2006/relationships/notesSlide" Target="/ppt/notesSlides/notesSlide15.xml" Id="R1d585778df494a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6c26b25b14cf0" /><Relationship Type="http://schemas.openxmlformats.org/officeDocument/2006/relationships/image" Target="/ppt/media/image6.png" Id="R8cd3484c0a9d440b" /><Relationship Type="http://schemas.openxmlformats.org/officeDocument/2006/relationships/notesSlide" Target="/ppt/notesSlides/notesSlide16.xml" Id="R8e888b58a8b245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6db0c2f8944b5" /><Relationship Type="http://schemas.openxmlformats.org/officeDocument/2006/relationships/notesSlide" Target="/ppt/notesSlides/notesSlide17.xml" Id="R12f9879f522949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caf5230ed4bd7" /><Relationship Type="http://schemas.openxmlformats.org/officeDocument/2006/relationships/image" Target="/ppt/media/image7.png" Id="R54d8c29e17974451" /><Relationship Type="http://schemas.openxmlformats.org/officeDocument/2006/relationships/notesSlide" Target="/ppt/notesSlides/notesSlide18.xml" Id="R5b0d4f5ff70a40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2867a04ae4f33" /><Relationship Type="http://schemas.openxmlformats.org/officeDocument/2006/relationships/notesSlide" Target="/ppt/notesSlides/notesSlide19.xml" Id="Rcae409fe76cd4e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bba4f1d7e4178" /><Relationship Type="http://schemas.openxmlformats.org/officeDocument/2006/relationships/notesSlide" Target="/ppt/notesSlides/notesSlide20.xml" Id="R89be5cf4e46a48b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2cf2150814cfb" /><Relationship Type="http://schemas.openxmlformats.org/officeDocument/2006/relationships/image" Target="/ppt/media/image8.png" Id="Rc2087b51b1ca4ece" /><Relationship Type="http://schemas.openxmlformats.org/officeDocument/2006/relationships/notesSlide" Target="/ppt/notesSlides/notesSlide21.xml" Id="Rb397dbb98635462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d8bb7b6f144c5" /><Relationship Type="http://schemas.openxmlformats.org/officeDocument/2006/relationships/image" Target="/ppt/media/image9.png" Id="R353e7c0de2304fd5" /><Relationship Type="http://schemas.openxmlformats.org/officeDocument/2006/relationships/notesSlide" Target="/ppt/notesSlides/notesSlide22.xml" Id="R05e7e8174dc2483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3d94d79cc4442" /><Relationship Type="http://schemas.openxmlformats.org/officeDocument/2006/relationships/image" Target="/ppt/media/image10.png" Id="Rbfaed40cfc9e48f1" /><Relationship Type="http://schemas.openxmlformats.org/officeDocument/2006/relationships/notesSlide" Target="/ppt/notesSlides/notesSlide23.xml" Id="R4601f79ef76e4f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e79e8df844a7a" /><Relationship Type="http://schemas.openxmlformats.org/officeDocument/2006/relationships/image" Target="/ppt/media/image11.png" Id="Rb961d3a8018442da" /><Relationship Type="http://schemas.openxmlformats.org/officeDocument/2006/relationships/notesSlide" Target="/ppt/notesSlides/notesSlide24.xml" Id="Rdf3bd81bf5644e0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0b9265f2e4ec0" /><Relationship Type="http://schemas.openxmlformats.org/officeDocument/2006/relationships/notesSlide" Target="/ppt/notesSlides/notesSlide25.xml" Id="R0124da3ccb2a4ee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4a7a552b6404f" /><Relationship Type="http://schemas.openxmlformats.org/officeDocument/2006/relationships/image" Target="/ppt/media/image12.png" Id="Rddf142cc59684ba2" /><Relationship Type="http://schemas.openxmlformats.org/officeDocument/2006/relationships/notesSlide" Target="/ppt/notesSlides/notesSlide26.xml" Id="R052659fc2c4f4f7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c81c05f5449ee" /><Relationship Type="http://schemas.openxmlformats.org/officeDocument/2006/relationships/notesSlide" Target="/ppt/notesSlides/notesSlide27.xml" Id="Rd5f0ef774d13446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bde42a0a945d0" /><Relationship Type="http://schemas.openxmlformats.org/officeDocument/2006/relationships/notesSlide" Target="/ppt/notesSlides/notesSlide28.xml" Id="R4dc9682238324db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49d006bab41d1" /><Relationship Type="http://schemas.openxmlformats.org/officeDocument/2006/relationships/notesSlide" Target="/ppt/notesSlides/notesSlide29.xml" Id="Rb460886c5f8d46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9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D8E92-EAC4-477C-AE38-B48F395F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CFD7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CFD7DE"/>
                </a:solidFill>
                <a:latin typeface="Microsoft YaHei"/>
                <a:ea typeface="Microsoft YaHei"/>
                <a:cs typeface="Microsoft YaHei"/>
              </a:rPr>
              <a:t>Codex AI 工程交付行动营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AED91-E549-4F39-A395-2555F7E6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143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L16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B7137-8100-4899-9CF1-B71EE4A9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219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在新环境接手，</a:t>
            </a:r>
          </a:p>
          <a:p xmlns:a="http://schemas.openxmlformats.org/drawingml/2006/main">
            <a:pPr>
              <a:def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并完成现场新需求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30A60-FF2A-4724-9EC8-AE29F50F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FD7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i="0">
                <a:solidFill>
                  <a:srgbClr val="CFD7DE"/>
                </a:solidFill>
                <a:latin typeface="Microsoft YaHei"/>
                <a:ea typeface="Microsoft YaHei"/>
                <a:cs typeface="Microsoft YaHei"/>
              </a:rPr>
              <a:t>接手已有系统，完成新的开发，交回可用版本。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A8FF8-F587-4A6C-A676-A1DC7E45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18996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051B8-8CA7-4E02-BA6A-B0AD1055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课程回顾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CF4AE-FE19-42DC-9DF8-8BED4FC5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离开原作者，系统还能继续交付吗？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E1814-2333-4D48-8257-BE3FD465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新环境检验可接手，新需求检验可继续开发。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6319D-0D2C-484A-BF74-5F8168DD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171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案例  库存查找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28CA7-396D-4EEB-AB10-BF352FAF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162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林舟交接工作台与 FlowERP。陈珂在新环境接手后，周宁提出库存查找需求。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88A50-6C73-4832-A798-D5B94EFF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219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人确认需求并接受结果，Codex 协助实现。</a:t>
            </a:r>
          </a:p>
          <a:p xmlns:a="http://schemas.openxmlformats.org/drawingml/2006/main">
            <a:pPr>
              <a:def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工作台组织执行、检查和审核，留下可追查的过程。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39A35-109C-4867-BD87-05F637F1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1219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人物、情节和配图均为教学示意。个人实践从当前版本的真实缺口开始。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EA9E4-8A6E-4F80-9CB3-0C2D045C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76922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E71DA-4C79-4D7B-B5A6-48BBCFC9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课程回顾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99CF8-20FE-4DB7-97EC-3695244C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Vibe Coding、Spec Coding 与 Harness 工程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C6768-B225-4850-8F2B-632B44A3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开发方式逐步增加判断依据，三种方式可以配合使用。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befd16b864e1c"/>
          <a:stretch xmlns:a="http://schemas.openxmlformats.org/drawingml/2006/main"/>
        </p:blipFill>
        <p:spPr>
          <a:xfrm xmlns:a="http://schemas.openxmlformats.org/drawingml/2006/main">
            <a:off x="2923092" y="2476500"/>
            <a:ext cx="7869816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41817-82D6-4262-A91A-B798DADF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读图：先试出结果，再按规格判断，通过工程机制约束执行。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AE3CE-9C59-40FF-8C00-9736C428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84864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0721F-3E51-4EA9-81ED-C388AC42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课程回顾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42ED1-0F0F-4C2A-934E-D1DE2EBD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搜索框出现了，需求还没有说清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27228-B6D1-4CD2-96FD-64D4ACBE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Spec 将“看起来能用”变成可核对的要求。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63087-D6C9-45AF-A4FF-3EA500BB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171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案例  同一个搜索框，三项未回答的问题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CDD86-B876-4CC7-AB93-F8D2EC8D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162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第二页商品能找到吗？</a:t>
            </a:r>
          </a:p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其他组织的同名商品会泄露吗？</a:t>
            </a:r>
          </a:p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读取失败会不会误报为“没有库存”？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B8663-8898-405D-8745-FF99A43C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219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先确认查找范围、权限和失败表现，再据此实现与验收。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A4AB9-C61F-4404-8607-F681FDDD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1219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当前页列表变短，只能说明当前页发生了筛选。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F39EB-62AF-4A5F-8959-3A57A8BD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9701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18045-4F8B-489B-96AF-FC5D8912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课程回顾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2D3E6-52B1-414C-B49E-9BAADBFB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FDE：深入现场，负责到实际可用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D2C75-05C4-41B8-BD69-06FADAE1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Forward-Deployed Engineering，面向真实业务问题的工程工作方式。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a3fe432dd4f0e"/>
          <a:stretch xmlns:a="http://schemas.openxmlformats.org/drawingml/2006/main"/>
        </p:blipFill>
        <p:spPr>
          <a:xfrm xmlns:a="http://schemas.openxmlformats.org/drawingml/2006/main">
            <a:off x="2923092" y="2476500"/>
            <a:ext cx="7869816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E912E-1C02-4A0A-9017-87FD522E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读图：理解接单问题，交付可用查询，再根据使用反馈修订。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F8D05-188B-42F6-A081-A528FA06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340435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BB58E-644F-41F0-86E4-5C5AE932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课程回顾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936EA-7B3C-4E4B-9649-F0EA2F89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本课用三个循环组织 FDE 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30E41-1C38-4221-BD76-BABCF563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现场决定要解决什么，交付与能力改进围绕它展开。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9733F-645F-4633-A937-7F65001F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现场循环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F6072-123C-4C47-A2C2-C7DCEA86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947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了解使用方式和约束，试用后修正对问题的理解。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E800A-3A9E-4A75-8B5B-557D473C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交付循环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6159B-AEA2-45B4-95F8-E81D3CC5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62400"/>
            <a:ext cx="947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工作台组织实现、检查与返工，由人接受具体版本。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9B7A9-21CE-456A-AC1F-B793B881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能力循环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FAF74-2748-4640-BE63-BDEBA2CC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947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把反复出现的问题补成检查或经验，再由后续任务验证。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0FAF5-B361-4A21-9BE9-6244E9AB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1219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这是本课的组织方式。保存经验之后，仍需要后续采用与复验。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1C62E-6ADF-4E9B-B67D-1C114F1D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784027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9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B774C-6ECA-4157-9CBD-1F09604C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143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本讲目录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430B7-4905-4CEA-805F-1DECE1CE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01  接手：让已有系统运行起来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71648-CDAF-441E-8BBB-C40930AE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02  开发：通过工作台完成新需求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3E7F5-EABD-4289-B9BE-252F529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03  交付：交回可继续使用的版本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826A7-C36C-4AD2-94C0-31E1F5D8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04  结课：下一项需求能复用什么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FC5CC-804E-4CB2-81D0-3FB0F8B5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342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离开作者电脑，</a:t>
            </a:r>
          </a:p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哪些条件必须重建？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D1DBE-04A6-41DB-A8A7-0648EF9D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031584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DB58B-C368-4FCA-B54B-6A815C0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4FCD5-8D90-492D-9180-5B0745EC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交付摘要说明现状，也暴露隐含条件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4924B-0F27-495C-AC55-79A74DFF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接手需要还原版本、运行条件和未解决问题。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36C23-889B-44C5-A150-1F194307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171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案例  说明只写了“启动服务”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9444A-BE63-4804-A1BD-B123F308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162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陈珂启动了工作台，却不知道 FlowERP 在哪里。</a:t>
            </a:r>
          </a:p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作者电脑上的项目路径，成了别人无法重建的隐含条件。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25C3C-D76C-4CF6-BA06-2CDB4767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219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交接说明应给出两个仓库的版本、依赖、配置和数据位置。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72831-72A4-4346-A43E-9F7D474A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1219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补回遗漏后，再由接手者按说明验证。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1725E-30C1-4070-9177-2B997823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088105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6E90D-0147-4010-B919-538B1741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BBC83-02F1-4022-AC95-96145C0E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三处环境分别承担不同职责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AEAC5-AE5A-42C1-AA91-7D9727F4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保留起点、验证重建、开发新需求，才能定位变化来自哪里。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b31e89f954a08"/>
          <a:stretch xmlns:a="http://schemas.openxmlformats.org/drawingml/2006/main"/>
        </p:blipFill>
        <p:spPr>
          <a:xfrm xmlns:a="http://schemas.openxmlformats.org/drawingml/2006/main">
            <a:off x="3536156" y="2476500"/>
            <a:ext cx="6643688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9F336-0BA2-4CB5-AA6B-210E012D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读图：左侧保留交接版本，中间验证重建，右侧承载新开发。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48FC5-ADF0-4B52-9D1D-9BC4BA7D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585003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E37EA-C1B8-433C-B1A8-BC32FCA9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5DEAE-1F84-48A7-A3B4-4D29F08B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工作台与 FlowERP 保存不同的事实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BF3C8-9E33-4A0A-9C8D-DF25CB46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研发记录和业务数据需要分别确认。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905685fe843b5"/>
          <a:stretch xmlns:a="http://schemas.openxmlformats.org/drawingml/2006/main"/>
        </p:blipFill>
        <p:spPr>
          <a:xfrm xmlns:a="http://schemas.openxmlformats.org/drawingml/2006/main">
            <a:off x="3536156" y="2476500"/>
            <a:ext cx="6643688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2805D-B672-42DB-AEE9-F7A7BACC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读图：工作台保存研发过程，FlowERP 保存商品、库存和订单。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92604-8F68-4AB5-9458-8E733558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366845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D8191-B93D-425F-BDB5-A437E698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7F62D-CF9C-45FC-BE6D-A4A1B2AF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新容器仍可能读到旧数据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91364-02E1-474A-9326-F520FDEB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容器减少程序运行差异，配置和数据仍需单独核对。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ECC34-683F-43B4-B3CF-BC1BB213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镜像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004D5-A2E4-4E4C-A015-4ADD5481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947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封装程序与依赖，确定运行哪一版程序。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9BE05-1C65-4A66-9DD8-51D9FED2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E1534-5EBB-43A8-B8CC-60CB0A39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62400"/>
            <a:ext cx="947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决定实际连接哪个地址、客户项目和数据库。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330AE-A843-4822-A4BC-6165CAF6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数据卷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7DB0F-35A6-4787-8212-CDEBA4DE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947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可以跨容器保留数据，新建容器不代表空库。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E5862-9EE9-49FF-BADE-FD449954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1219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冷启动要重新建立运行条件。只打开新终端，仍可能沿用旧环境。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BA5A7-3479-4023-A472-5C111C61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260260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CFB6F-BD1E-4EAF-8719-DD0BCE17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FBA87-6322-4ED1-BDB6-5E075A01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健康检查只覆盖它实际检查的条件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0CB3A-4ACA-4184-83DD-01AD14CB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业务操作继续验证目标实例和真实数据读写。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448C8-0CCD-45D9-9B6A-04B01066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171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案例  服务健康，却连接着作者的旧电脑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0631C-851B-4AC5-A5E7-3E169410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162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先核对实际地址和版本。</a:t>
            </a:r>
          </a:p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在新环境建立商品并重新查询，再从工作台查回一项任务。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14B62-33BE-4312-B5B5-FFE37BB9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219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已有操作正常后，新需求检查失败才更可能来自能力缺失。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B0A80-2C1C-42EF-869C-4977A3EC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1219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分别验证工作台与客户项目，不能用一个健康响应替代两套系统的检查。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C1BB6-6C4B-476A-A0F2-D777EC6E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314886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29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28C7F-BF45-49D4-A705-94677FDF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143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本讲目录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A0487-5C3D-49BF-B7C8-F76D5915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01  接手：让已有系统运行起来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DA516-5342-4C00-A0AF-84BCD158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02  开发：通过工作台完成新需求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A0E74-FE21-4255-83A4-2449BAE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03  交付：交回可继续使用的版本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83B49-C76C-42F2-ADEA-FCA126A9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04  结课：下一项需求能复用什么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D4B40-2942-424A-A311-54CDB53E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342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新要求怎样成为</a:t>
            </a:r>
          </a:p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可接受的产品增量？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4445B-1907-4D44-B3AE-CD7F149C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734230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88D06-6413-4021-BF39-2CF53CD7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297D9-5075-44AC-9E93-A426DD1E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查找范围决定实现与验收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70A72-38D0-4364-A7BB-C8843E5B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当前页筛选和跨分页查询，需要不同的要求。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0a69fb86147ce"/>
          <a:stretch xmlns:a="http://schemas.openxmlformats.org/drawingml/2006/main"/>
        </p:blipFill>
        <p:spPr>
          <a:xfrm xmlns:a="http://schemas.openxmlformats.org/drawingml/2006/main">
            <a:off x="3536156" y="2476500"/>
            <a:ext cx="6643688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EE87C-C2E5-4C4D-87CD-D9DCB83F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读图：比较两种查找范围，再确认当前版本缺少哪种能力。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1EFF7-397A-47A9-8502-F773226A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463376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9C87E-32BD-4D19-A0CC-0D5E0954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5EC41-04D2-473E-A95D-A0E69E73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验收数据要覆盖容易遗漏的边界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56FDE-66CA-4E18-8A26-6C64149B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先在原版本运行检查，确认它能识别真实缺口。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64F97-9BA7-45F7-B99B-F4AF73BF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171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案例  当前组织内，按名称跨分页查库存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B2810-3703-4732-845A-17F19C65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162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第二页商品：应能查到。</a:t>
            </a:r>
          </a:p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其他组织的同名商品：不应泄露。</a:t>
            </a:r>
          </a:p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模糊推荐与批量修改：不在本次范围。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11A01-86B2-4E67-857E-E8FA5D9B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219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连不上服务属于环境问题。功能已经存在，就重新寻找真实缺口。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973C2-510E-4777-B2D9-E0054BDA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1219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新增检查验证新要求，既有阻断 Eval 保护原有能力。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5364C-77A6-4DF7-8FB6-5C3C6F99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904255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C276B-54FB-45DE-B25D-6888CA14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D4B73-43E5-4AD2-BB00-8F44D036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授权、检查和停止条件共同约束执行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CB21D-0E8A-4B70-BAEE-0A7AA80F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从工作台首页“事项与决策”组织本次开发。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3484c0a9d440b"/>
          <a:stretch xmlns:a="http://schemas.openxmlformats.org/drawingml/2006/main"/>
        </p:blipFill>
        <p:spPr>
          <a:xfrm xmlns:a="http://schemas.openxmlformats.org/drawingml/2006/main">
            <a:off x="3536156" y="2476500"/>
            <a:ext cx="6643688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8BF6C-4772-4F38-825C-AE065A6F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读图：确认范围后执行修改，检查结果，再由人接受或打回。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F09BE-2494-42E7-A44B-8103D082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082867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BA6E3-B5D0-4550-AEEE-A21A46B2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0D98E-CBBC-446E-9582-BEAA0437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打回要能复现，接受要对应新版本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A866D-43D6-4518-B9BA-DE5D59A1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具体输入与预期结果，比“功能不好用”更能帮助定位问题。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BC845-01AF-4809-B75B-7B62101E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171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案例  第二页商品返回空结果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82561-4BE5-41D2-A4CA-DE618097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162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陈珂用同一商品复现遗漏，打回第一版。</a:t>
            </a:r>
          </a:p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Codex 修订后，陈珂重跑原检查和新增用例，再决定是否接受。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5C514-B897-4464-A191-A4F421F0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219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保留第一版失败，后来的通过报告关联修订版。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19D8D-3624-4CDD-89D2-3AA42AFD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1219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独立复验与具名接受针对同一候选，执行者的完成声明不能替代它们。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AB9D6-FF84-4542-8F4F-F35EB35D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668469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42E00-C7DE-4F05-8C3B-EF8B3CE1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76408-AC30-43B5-8A70-E2497425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不同失败需要处理不同对象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6DFB2-1F3F-432B-B695-9BE4FDEA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先判断哪一层出了问题，再决定如何修复。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8c29e17974451"/>
          <a:stretch xmlns:a="http://schemas.openxmlformats.org/drawingml/2006/main"/>
        </p:blipFill>
        <p:spPr>
          <a:xfrm xmlns:a="http://schemas.openxmlformats.org/drawingml/2006/main">
            <a:off x="3536156" y="2476500"/>
            <a:ext cx="6643688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D4426-6F02-4746-AE7D-F05BF924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读图：业务拒绝查数据保护，读取失败查提示，研发打回查需求满足。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5B9A6-55AB-4AAD-A692-B2EC48C4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086207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A967A-16FF-4EDD-8AE9-E82D223B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524A0-0B42-4CBD-9FEA-8BE8978D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修复继续到哪里，工作台必须说清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6D823-2ECF-4680-8B9B-E8F6FAF1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Loop 控制修复边界，Graph 区分执行、复验与接受。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A916D-C21F-446D-B74F-DE6FFDD0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继续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F1A3F-1E4E-4169-8882-B22F8B8D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947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检查仍失败，但有进展、未越界且预算充足。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75062-07EE-4D61-9695-319A618B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停止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3C909-A4BE-430D-B746-B88D4194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62400"/>
            <a:ext cx="947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达到上限、需要新授权或证据不足时，交回人判断。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E0BBD-F0A6-4EBF-8BB7-12D7FC5B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接受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4D42B-BBD0-4D88-B93F-EB3903EB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947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新候选通过检查后，仍由人依据同版材料作决定。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7347C-5228-425D-9E88-DB85F954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1219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旧经验可以帮助选择修法，本次 Spec、Diff 和 Eval 仍需独立成立。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74DDA-2BE8-4245-97BE-151E6397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009114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429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023DF-1F99-453A-9289-A5920D40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143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本讲目录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7E3E8-87B3-4264-9BA8-24A4A2D3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01  接手：让已有系统运行起来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DCD16-1C23-44F6-8AC6-7DA61CA6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02  开发：通过工作台完成新需求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E69B2-A881-4221-B577-3AE805B3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03  交付：交回可继续使用的版本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4565C-013E-47CE-BA10-A04BB281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04  结课：下一项需求能复用什么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E72E0-2345-4956-8CB5-7634EA8C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342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交付后怎样使用、</a:t>
            </a:r>
          </a:p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追查与处理故障？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374F7-26BA-44D8-8973-1C60E3E2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45401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ABC67-3F03-40D3-B3D0-A7957A5A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E7FBD-2A5F-4184-8B11-12B7383E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实际使用会揭示新的需求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BF28E-89DA-4AD6-AB41-79B92F3D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原要求通过验收后，新增反馈仍需要确认范围。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87b51b1ca4ece"/>
          <a:stretch xmlns:a="http://schemas.openxmlformats.org/drawingml/2006/main"/>
        </p:blipFill>
        <p:spPr>
          <a:xfrm xmlns:a="http://schemas.openxmlformats.org/drawingml/2006/main">
            <a:off x="2923092" y="2476500"/>
            <a:ext cx="7869816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1B074-BEDC-43C3-BE79-A1CF78C8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读图：名称查找已经通过，编码查找是否开发，要重新确认。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91849-8DE7-4534-A27E-7C4BB59B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99792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0EAB7-B41B-43D6-B3F0-DFC3F398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1A3E4-0AE5-457E-AA46-F67D09BA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交付记录帮助解释“今天为什么又不行”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68BEC-0555-411F-9CBC-1C931C8A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摘要与结果导出连接已交付版本，反馈连接下一次改进。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e7c0de2304fd5"/>
          <a:stretch xmlns:a="http://schemas.openxmlformats.org/drawingml/2006/main"/>
        </p:blipFill>
        <p:spPr>
          <a:xfrm xmlns:a="http://schemas.openxmlformats.org/drawingml/2006/main">
            <a:off x="3536156" y="2476500"/>
            <a:ext cx="6643688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92B8B-52CF-4ABE-A619-0A1EEE09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读图：核对同一版本、同一组织与同一组数据，再追查变化。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44FC3-3D63-4994-A1C4-09851722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612969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21B4F-23A3-4491-8F49-A392BAA7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A1EB5-6CE6-42BE-8506-4FD17CF0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回退程序与恢复数据，需要分别判断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46283-7F97-46FB-9C18-2AD1DB9F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切回旧程序，不会撤销已经发生的出入库。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ed40cfc9e48f1"/>
          <a:stretch xmlns:a="http://schemas.openxmlformats.org/drawingml/2006/main"/>
        </p:blipFill>
        <p:spPr>
          <a:xfrm xmlns:a="http://schemas.openxmlformats.org/drawingml/2006/main">
            <a:off x="3536156" y="2476500"/>
            <a:ext cx="6643688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ABA12-AB96-4E98-88D3-7C6D0E11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读图：保护现场、核对兼容条件，再在独立副本验证恢复。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6352C-C90D-464A-8AB9-55B6EF86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979473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1F4D6-CB5F-4531-A4DB-440DFD5C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4A829-229F-44D7-83E6-6C9B5934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还原备份点，不等于还原当前业务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BE5F1-5090-4A7C-8BAC-8FC4BFDD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备份之后新增的业务，必须另行对账。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1d3a8018442da"/>
          <a:stretch xmlns:a="http://schemas.openxmlformats.org/drawingml/2006/main"/>
        </p:blipFill>
        <p:spPr>
          <a:xfrm xmlns:a="http://schemas.openxmlformats.org/drawingml/2006/main">
            <a:off x="3536156" y="2476500"/>
            <a:ext cx="6643688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0AD68-ABE2-4309-8224-596DF32D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案例：备份 8 件，后来入库 2 件。恢复副本仍是 8 件，差额由业务负责人判断。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E47CE-B205-4D8B-9051-427788BD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227781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429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141D2-7384-4C8F-9B11-45B26BEF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143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本讲目录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B10FD-FCD4-42EE-8882-ED312A06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01  接手：让已有系统运行起来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E67AC-46E6-4AA7-A396-E9BC783D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02  开发：通过工作台完成新需求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7C08D-D905-4987-80B8-00C760D6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03  交付：交回可继续使用的版本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79A2D-5848-4CA7-8D1C-32C87DBE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04  结课：下一项需求能复用什么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23D0B-AF18-4F28-A746-ABC732C1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342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这次失败的教训，</a:t>
            </a:r>
          </a:p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怎样帮助下次交付？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01C0A-3FD6-4448-8D77-A9485565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A9BAC8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6391355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B4DBD-2A5F-41F4-A6DB-80E3FF74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结课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C46DD-1AD5-49D6-A32E-4679DD68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同一个查询遗漏，可能要改三个地方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C48AC-2000-47D8-B124-8B74B435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先定位缺口，再决定修规格、补检查，还是修工作台。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142cc59684ba2"/>
          <a:stretch xmlns:a="http://schemas.openxmlformats.org/drawingml/2006/main"/>
        </p:blipFill>
        <p:spPr>
          <a:xfrm xmlns:a="http://schemas.openxmlformats.org/drawingml/2006/main">
            <a:off x="2923092" y="2476500"/>
            <a:ext cx="7869816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9CE15-3DBA-4816-B227-DD83EB24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1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读图：三行是不同原因与改进位置，不是依次执行的三个步骤。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D4A98-F0E3-43CF-9C29-E735898D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563018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259E1-66D8-4121-B7F0-714F85ED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结课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A1192-A6A9-421A-80BD-1DC48C29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能复用的是方法，新业务仍需新验证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0D08B-5A3D-4B87-9CFA-0E74241D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库存查询的经验可以提示风险，不能证明销售导出正确。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E862F-FF33-49A7-9F4C-ADBC8A34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171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案例  从库存查询到销售导出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D801F-D27E-4903-B036-C77C472D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162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“分页可能遗漏”提醒你检查导出是否覆盖全部结果。</a:t>
            </a:r>
          </a:p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销售字段、权限、金额计算和失败状态，仍需重新确认。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E402B-9502-4C4C-AB69-F73EFD9B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219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工作台复用任务组织和审核机制，FlowERP 在新规则下接受检查。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FFFE7-E6ED-4D1E-A5E1-6EFBE302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1219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把实际采用结果写回经验，才能知道它是否帮助了后续任务。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0A96D-276D-4B6D-8501-C98A12A9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998725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39091-B6B4-4B63-998F-3FE66655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结课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37324-624F-424E-91E2-C8C00A54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交付边界要具体到别人能作判断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8D691-5E9D-441C-9D76-CD3C79B5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交回可用版本，也要说明尚未验证的条件和剩余风险。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E8E46-FD6C-4C9A-B8AA-3DADAAAC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171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案例  查询正确，但数据增大后变慢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3B941-F749-45DA-8218-3B06605D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162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说明当前验证过的数据规模、变慢时的现象和后续处理安排。</a:t>
            </a:r>
          </a:p>
          <a:p xmlns:a="http://schemas.openxmlformats.org/drawingml/2006/main">
            <a:pPr>
              <a:def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接手者才能判断何时需要优化，怎样检验改善。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D9082-AEBA-4482-B767-E5D3D10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219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干净环境可启动、阻断 Eval 通过、审核可追查，且仓库无密钥。</a:t>
            </a:r>
          </a:p>
          <a:p xmlns:a="http://schemas.openxmlformats.org/drawingml/2006/main">
            <a:pPr>
              <a:def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Loop 如实停止时，要同时说明产品还缺哪些条件。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52498-7144-4E95-9870-C60DE27C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1219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结业检查表与五分钟答辩稿见实践手册。正文关注交付判断，操作记录按实际结果填写。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9B25A-D453-4FD2-92FE-9C4C3F9B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6384146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B341A-BEEC-46D3-8B35-19337770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L16 / 结课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693EE-2592-49D8-8221-6DDA1B14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课程结束，下一项真实需求仍会到来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F6FB6-703B-4CBA-9264-60897DF8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工作台组织人与 Codex 协作，FlowERP 持续获得可验证的增量。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BD6A1-C423-4C86-AE90-BA909B72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16934-DD73-4F21-AE22-6565264A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947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系统换了环境，哪些隐含条件最容易遗漏？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B069D-7679-48B1-9D23-E94C5E5C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Q2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89D42-379E-438A-8472-A4E7A561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62400"/>
            <a:ext cx="947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第二页商品查不到，你凭什么决定改哪里？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4770C-3EF8-4481-8525-056E520D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B78B43"/>
                </a:solidFill>
                <a:latin typeface="Microsoft YaHei"/>
                <a:ea typeface="Microsoft YaHei"/>
                <a:cs typeface="Microsoft YaHei"/>
              </a:rPr>
              <a:t>Q3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FC52A-11F7-4FAA-99A2-84FA8D3B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947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i="0">
                <a:solidFill>
                  <a:srgbClr val="142939"/>
                </a:solidFill>
                <a:latin typeface="Microsoft YaHei"/>
                <a:ea typeface="Microsoft YaHei"/>
                <a:cs typeface="Microsoft YaHei"/>
              </a:rPr>
              <a:t>旧经验用于新需求时，哪些规则必须重新验证？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EEF81-9562-4EA6-B57B-D7CA27FD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1219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接下来：用自己的工作台完成下一项范围受控的真实需求。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DF125-D512-47B6-A2D5-4A10170F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36A7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983674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2026-09-23T07:33:58.3720000Z</dcterms:created>
  <dcterms:modified xsi:type="dcterms:W3CDTF">2026-09-23T07:33:58.3720000Z</dcterms:modified>
</coreProperties>
</file>